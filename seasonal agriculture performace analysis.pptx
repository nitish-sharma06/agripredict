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BB94BE-6F63-4D7C-98CE-75031AB68109}" v="7" dt="2026-09-08T16:18:59.27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0" d="100"/>
          <a:sy n="80" d="100"/>
        </p:scale>
        <p:origin x="56"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SH BANSAL" userId="9b98d63dcf6a67ac" providerId="LiveId" clId="{3C7CA52D-6F8C-4E55-8200-34C590F5254E}"/>
    <pc:docChg chg="custSel modSld">
      <pc:chgData name="VANSH BANSAL" userId="9b98d63dcf6a67ac" providerId="LiveId" clId="{3C7CA52D-6F8C-4E55-8200-34C590F5254E}" dt="2026-09-08T16:25:15.743" v="69" actId="167"/>
      <pc:docMkLst>
        <pc:docMk/>
      </pc:docMkLst>
      <pc:sldChg chg="modSp mod">
        <pc:chgData name="VANSH BANSAL" userId="9b98d63dcf6a67ac" providerId="LiveId" clId="{3C7CA52D-6F8C-4E55-8200-34C590F5254E}" dt="2026-09-08T16:18:59.277" v="16" actId="207"/>
        <pc:sldMkLst>
          <pc:docMk/>
          <pc:sldMk cId="3098548442" sldId="327"/>
        </pc:sldMkLst>
        <pc:spChg chg="mod">
          <ac:chgData name="VANSH BANSAL" userId="9b98d63dcf6a67ac" providerId="LiveId" clId="{3C7CA52D-6F8C-4E55-8200-34C590F5254E}" dt="2026-09-08T16:18:59.277" v="16" actId="207"/>
          <ac:spMkLst>
            <pc:docMk/>
            <pc:sldMk cId="3098548442" sldId="327"/>
            <ac:spMk id="2" creationId="{E46E4DD1-270B-4C80-AFF0-EB26F132AF36}"/>
          </ac:spMkLst>
        </pc:spChg>
        <pc:spChg chg="mod">
          <ac:chgData name="VANSH BANSAL" userId="9b98d63dcf6a67ac" providerId="LiveId" clId="{3C7CA52D-6F8C-4E55-8200-34C590F5254E}" dt="2026-09-08T16:17:28.038" v="2" actId="122"/>
          <ac:spMkLst>
            <pc:docMk/>
            <pc:sldMk cId="3098548442" sldId="327"/>
            <ac:spMk id="4" creationId="{777CC02B-F7C6-47A8-8C3E-C57C417D9EA3}"/>
          </ac:spMkLst>
        </pc:spChg>
      </pc:sldChg>
      <pc:sldChg chg="modSp mod">
        <pc:chgData name="VANSH BANSAL" userId="9b98d63dcf6a67ac" providerId="LiveId" clId="{3C7CA52D-6F8C-4E55-8200-34C590F5254E}" dt="2026-09-08T16:18:51.582" v="15" actId="1076"/>
        <pc:sldMkLst>
          <pc:docMk/>
          <pc:sldMk cId="1604013440" sldId="338"/>
        </pc:sldMkLst>
        <pc:spChg chg="mod">
          <ac:chgData name="VANSH BANSAL" userId="9b98d63dcf6a67ac" providerId="LiveId" clId="{3C7CA52D-6F8C-4E55-8200-34C590F5254E}" dt="2026-09-08T16:18:47.255" v="14" actId="1076"/>
          <ac:spMkLst>
            <pc:docMk/>
            <pc:sldMk cId="1604013440" sldId="338"/>
            <ac:spMk id="2" creationId="{7201737A-B873-4D1D-8A41-5ABF5184BC8F}"/>
          </ac:spMkLst>
        </pc:spChg>
        <pc:spChg chg="mod">
          <ac:chgData name="VANSH BANSAL" userId="9b98d63dcf6a67ac" providerId="LiveId" clId="{3C7CA52D-6F8C-4E55-8200-34C590F5254E}" dt="2026-09-08T16:18:51.582" v="15" actId="1076"/>
          <ac:spMkLst>
            <pc:docMk/>
            <pc:sldMk cId="1604013440" sldId="338"/>
            <ac:spMk id="3" creationId="{17F04107-8754-E47D-3375-529E689711FA}"/>
          </ac:spMkLst>
        </pc:spChg>
        <pc:spChg chg="mod">
          <ac:chgData name="VANSH BANSAL" userId="9b98d63dcf6a67ac" providerId="LiveId" clId="{3C7CA52D-6F8C-4E55-8200-34C590F5254E}" dt="2026-09-08T16:18:41.156" v="13" actId="113"/>
          <ac:spMkLst>
            <pc:docMk/>
            <pc:sldMk cId="1604013440" sldId="338"/>
            <ac:spMk id="4" creationId="{92056599-CDAA-4367-BEF8-31D6E32518C8}"/>
          </ac:spMkLst>
        </pc:spChg>
      </pc:sldChg>
      <pc:sldChg chg="modSp mod">
        <pc:chgData name="VANSH BANSAL" userId="9b98d63dcf6a67ac" providerId="LiveId" clId="{3C7CA52D-6F8C-4E55-8200-34C590F5254E}" dt="2026-09-08T16:19:21.271" v="18" actId="1076"/>
        <pc:sldMkLst>
          <pc:docMk/>
          <pc:sldMk cId="1086225493" sldId="339"/>
        </pc:sldMkLst>
        <pc:spChg chg="mod">
          <ac:chgData name="VANSH BANSAL" userId="9b98d63dcf6a67ac" providerId="LiveId" clId="{3C7CA52D-6F8C-4E55-8200-34C590F5254E}" dt="2026-09-08T16:19:16.032" v="17" actId="14100"/>
          <ac:spMkLst>
            <pc:docMk/>
            <pc:sldMk cId="1086225493" sldId="339"/>
            <ac:spMk id="4" creationId="{AFE3A2AF-177E-45E6-A191-0F8523DB7FFA}"/>
          </ac:spMkLst>
        </pc:spChg>
        <pc:picChg chg="mod">
          <ac:chgData name="VANSH BANSAL" userId="9b98d63dcf6a67ac" providerId="LiveId" clId="{3C7CA52D-6F8C-4E55-8200-34C590F5254E}" dt="2026-09-08T16:19:21.271" v="18" actId="1076"/>
          <ac:picMkLst>
            <pc:docMk/>
            <pc:sldMk cId="1086225493" sldId="339"/>
            <ac:picMk id="100" creationId="{00000000-0000-0000-0000-000000000000}"/>
          </ac:picMkLst>
        </pc:picChg>
      </pc:sldChg>
      <pc:sldChg chg="addSp modSp mod">
        <pc:chgData name="VANSH BANSAL" userId="9b98d63dcf6a67ac" providerId="LiveId" clId="{3C7CA52D-6F8C-4E55-8200-34C590F5254E}" dt="2026-09-08T16:25:15.743" v="69" actId="167"/>
        <pc:sldMkLst>
          <pc:docMk/>
          <pc:sldMk cId="3849627828" sldId="340"/>
        </pc:sldMkLst>
        <pc:spChg chg="add mod ord">
          <ac:chgData name="VANSH BANSAL" userId="9b98d63dcf6a67ac" providerId="LiveId" clId="{3C7CA52D-6F8C-4E55-8200-34C590F5254E}" dt="2026-09-08T16:25:15.743" v="69" actId="167"/>
          <ac:spMkLst>
            <pc:docMk/>
            <pc:sldMk cId="3849627828" sldId="340"/>
            <ac:spMk id="2" creationId="{93632D5A-86D7-0EF0-7377-B0ADD0406541}"/>
          </ac:spMkLst>
        </pc:spChg>
        <pc:spChg chg="mod">
          <ac:chgData name="VANSH BANSAL" userId="9b98d63dcf6a67ac" providerId="LiveId" clId="{3C7CA52D-6F8C-4E55-8200-34C590F5254E}" dt="2026-09-08T16:24:34.309" v="59" actId="27636"/>
          <ac:spMkLst>
            <pc:docMk/>
            <pc:sldMk cId="3849627828" sldId="340"/>
            <ac:spMk id="4" creationId="{6D5AF756-BADB-9E87-14AC-F87A8C7463BF}"/>
          </ac:spMkLst>
        </pc:spChg>
        <pc:spChg chg="mod">
          <ac:chgData name="VANSH BANSAL" userId="9b98d63dcf6a67ac" providerId="LiveId" clId="{3C7CA52D-6F8C-4E55-8200-34C590F5254E}" dt="2026-09-08T16:24:57.134" v="65" actId="1076"/>
          <ac:spMkLst>
            <pc:docMk/>
            <pc:sldMk cId="3849627828" sldId="340"/>
            <ac:spMk id="7" creationId="{4716F3BA-AE41-9B35-3BCA-353F205375D1}"/>
          </ac:spMkLst>
        </pc:spChg>
        <pc:spChg chg="mod">
          <ac:chgData name="VANSH BANSAL" userId="9b98d63dcf6a67ac" providerId="LiveId" clId="{3C7CA52D-6F8C-4E55-8200-34C590F5254E}" dt="2026-09-08T16:24:50.720" v="63" actId="1076"/>
          <ac:spMkLst>
            <pc:docMk/>
            <pc:sldMk cId="3849627828" sldId="340"/>
            <ac:spMk id="8" creationId="{0E149068-B429-662F-714A-0DD8CE171A51}"/>
          </ac:spMkLst>
        </pc:spChg>
        <pc:picChg chg="mod">
          <ac:chgData name="VANSH BANSAL" userId="9b98d63dcf6a67ac" providerId="LiveId" clId="{3C7CA52D-6F8C-4E55-8200-34C590F5254E}" dt="2026-09-08T16:24:46.730" v="62" actId="1076"/>
          <ac:picMkLst>
            <pc:docMk/>
            <pc:sldMk cId="3849627828" sldId="340"/>
            <ac:picMk id="100" creationId="{00000000-0000-0000-0000-000000000000}"/>
          </ac:picMkLst>
        </pc:picChg>
      </pc:sldChg>
      <pc:sldChg chg="modSp">
        <pc:chgData name="VANSH BANSAL" userId="9b98d63dcf6a67ac" providerId="LiveId" clId="{3C7CA52D-6F8C-4E55-8200-34C590F5254E}" dt="2026-09-08T16:16:28.947" v="0"/>
        <pc:sldMkLst>
          <pc:docMk/>
          <pc:sldMk cId="3863610428" sldId="342"/>
        </pc:sldMkLst>
        <pc:spChg chg="mod">
          <ac:chgData name="VANSH BANSAL" userId="9b98d63dcf6a67ac" providerId="LiveId" clId="{3C7CA52D-6F8C-4E55-8200-34C590F5254E}" dt="2026-09-08T16:16:28.947" v="0"/>
          <ac:spMkLst>
            <pc:docMk/>
            <pc:sldMk cId="3863610428" sldId="342"/>
            <ac:spMk id="3" creationId="{5F0B37E4-66B1-8633-7266-68B321742757}"/>
          </ac:spMkLst>
        </pc:spChg>
      </pc:sldChg>
      <pc:sldChg chg="modSp mod">
        <pc:chgData name="VANSH BANSAL" userId="9b98d63dcf6a67ac" providerId="LiveId" clId="{3C7CA52D-6F8C-4E55-8200-34C590F5254E}" dt="2026-09-08T16:20:17.193" v="29" actId="1076"/>
        <pc:sldMkLst>
          <pc:docMk/>
          <pc:sldMk cId="1698901770" sldId="344"/>
        </pc:sldMkLst>
        <pc:spChg chg="mod">
          <ac:chgData name="VANSH BANSAL" userId="9b98d63dcf6a67ac" providerId="LiveId" clId="{3C7CA52D-6F8C-4E55-8200-34C590F5254E}" dt="2026-09-08T16:19:43.566" v="21" actId="27636"/>
          <ac:spMkLst>
            <pc:docMk/>
            <pc:sldMk cId="1698901770" sldId="344"/>
            <ac:spMk id="4" creationId="{DFCD5524-F764-DC63-6F54-D48057CF17B7}"/>
          </ac:spMkLst>
        </pc:spChg>
        <pc:spChg chg="mod">
          <ac:chgData name="VANSH BANSAL" userId="9b98d63dcf6a67ac" providerId="LiveId" clId="{3C7CA52D-6F8C-4E55-8200-34C590F5254E}" dt="2026-09-08T16:20:17.193" v="29" actId="1076"/>
          <ac:spMkLst>
            <pc:docMk/>
            <pc:sldMk cId="1698901770" sldId="344"/>
            <ac:spMk id="7" creationId="{4B1E3463-DEAD-53DD-2AC0-E8A458421D0B}"/>
          </ac:spMkLst>
        </pc:spChg>
        <pc:spChg chg="mod">
          <ac:chgData name="VANSH BANSAL" userId="9b98d63dcf6a67ac" providerId="LiveId" clId="{3C7CA52D-6F8C-4E55-8200-34C590F5254E}" dt="2026-09-08T16:20:13.605" v="28" actId="1076"/>
          <ac:spMkLst>
            <pc:docMk/>
            <pc:sldMk cId="1698901770" sldId="344"/>
            <ac:spMk id="8" creationId="{B713140B-3822-90E0-F216-B77A695B86B5}"/>
          </ac:spMkLst>
        </pc:spChg>
        <pc:picChg chg="mod">
          <ac:chgData name="VANSH BANSAL" userId="9b98d63dcf6a67ac" providerId="LiveId" clId="{3C7CA52D-6F8C-4E55-8200-34C590F5254E}" dt="2026-09-08T16:19:53.893" v="24" actId="14100"/>
          <ac:picMkLst>
            <pc:docMk/>
            <pc:sldMk cId="1698901770" sldId="344"/>
            <ac:picMk id="100" creationId="{00000000-0000-0000-0000-000000000000}"/>
          </ac:picMkLst>
        </pc:picChg>
        <pc:picChg chg="mod">
          <ac:chgData name="VANSH BANSAL" userId="9b98d63dcf6a67ac" providerId="LiveId" clId="{3C7CA52D-6F8C-4E55-8200-34C590F5254E}" dt="2026-09-08T16:20:04.468" v="27" actId="14100"/>
          <ac:picMkLst>
            <pc:docMk/>
            <pc:sldMk cId="1698901770" sldId="344"/>
            <ac:picMk id="101" creationId="{00000000-0000-0000-0000-000000000000}"/>
          </ac:picMkLst>
        </pc:picChg>
      </pc:sldChg>
      <pc:sldChg chg="addSp modSp mod">
        <pc:chgData name="VANSH BANSAL" userId="9b98d63dcf6a67ac" providerId="LiveId" clId="{3C7CA52D-6F8C-4E55-8200-34C590F5254E}" dt="2026-09-08T16:22:03.890" v="46" actId="1076"/>
        <pc:sldMkLst>
          <pc:docMk/>
          <pc:sldMk cId="1903979828" sldId="345"/>
        </pc:sldMkLst>
        <pc:spChg chg="add mod ord">
          <ac:chgData name="VANSH BANSAL" userId="9b98d63dcf6a67ac" providerId="LiveId" clId="{3C7CA52D-6F8C-4E55-8200-34C590F5254E}" dt="2026-09-08T16:21:54.143" v="44" actId="167"/>
          <ac:spMkLst>
            <pc:docMk/>
            <pc:sldMk cId="1903979828" sldId="345"/>
            <ac:spMk id="2" creationId="{AF11F8FC-8092-2219-E314-FF79886745CC}"/>
          </ac:spMkLst>
        </pc:spChg>
        <pc:spChg chg="mod">
          <ac:chgData name="VANSH BANSAL" userId="9b98d63dcf6a67ac" providerId="LiveId" clId="{3C7CA52D-6F8C-4E55-8200-34C590F5254E}" dt="2026-09-08T16:20:26.621" v="31" actId="27636"/>
          <ac:spMkLst>
            <pc:docMk/>
            <pc:sldMk cId="1903979828" sldId="345"/>
            <ac:spMk id="4" creationId="{15FD49EE-0956-AAE3-737B-15F7D4267C1A}"/>
          </ac:spMkLst>
        </pc:spChg>
        <pc:spChg chg="mod">
          <ac:chgData name="VANSH BANSAL" userId="9b98d63dcf6a67ac" providerId="LiveId" clId="{3C7CA52D-6F8C-4E55-8200-34C590F5254E}" dt="2026-09-08T16:22:03.890" v="46" actId="1076"/>
          <ac:spMkLst>
            <pc:docMk/>
            <pc:sldMk cId="1903979828" sldId="345"/>
            <ac:spMk id="7" creationId="{D224F8B1-34DD-5A54-7F70-25EBA532E6E1}"/>
          </ac:spMkLst>
        </pc:spChg>
        <pc:spChg chg="mod">
          <ac:chgData name="VANSH BANSAL" userId="9b98d63dcf6a67ac" providerId="LiveId" clId="{3C7CA52D-6F8C-4E55-8200-34C590F5254E}" dt="2026-09-08T16:21:58.453" v="45" actId="1076"/>
          <ac:spMkLst>
            <pc:docMk/>
            <pc:sldMk cId="1903979828" sldId="345"/>
            <ac:spMk id="8" creationId="{25A36120-3EFF-6A69-8D23-42BFD883ADDA}"/>
          </ac:spMkLst>
        </pc:spChg>
        <pc:picChg chg="mod">
          <ac:chgData name="VANSH BANSAL" userId="9b98d63dcf6a67ac" providerId="LiveId" clId="{3C7CA52D-6F8C-4E55-8200-34C590F5254E}" dt="2026-09-08T16:20:35.911" v="33" actId="1076"/>
          <ac:picMkLst>
            <pc:docMk/>
            <pc:sldMk cId="1903979828" sldId="345"/>
            <ac:picMk id="100" creationId="{00000000-0000-0000-0000-000000000000}"/>
          </ac:picMkLst>
        </pc:picChg>
      </pc:sldChg>
      <pc:sldChg chg="addSp modSp mod">
        <pc:chgData name="VANSH BANSAL" userId="9b98d63dcf6a67ac" providerId="LiveId" clId="{3C7CA52D-6F8C-4E55-8200-34C590F5254E}" dt="2026-09-08T16:22:45.636" v="57" actId="1076"/>
        <pc:sldMkLst>
          <pc:docMk/>
          <pc:sldMk cId="1421522261" sldId="346"/>
        </pc:sldMkLst>
        <pc:spChg chg="add mod ord">
          <ac:chgData name="VANSH BANSAL" userId="9b98d63dcf6a67ac" providerId="LiveId" clId="{3C7CA52D-6F8C-4E55-8200-34C590F5254E}" dt="2026-09-08T16:22:40.552" v="56" actId="167"/>
          <ac:spMkLst>
            <pc:docMk/>
            <pc:sldMk cId="1421522261" sldId="346"/>
            <ac:spMk id="2" creationId="{4CA35950-0950-D9AB-311C-7861A48DF08B}"/>
          </ac:spMkLst>
        </pc:spChg>
        <pc:spChg chg="mod">
          <ac:chgData name="VANSH BANSAL" userId="9b98d63dcf6a67ac" providerId="LiveId" clId="{3C7CA52D-6F8C-4E55-8200-34C590F5254E}" dt="2026-09-08T16:22:09.551" v="48" actId="27636"/>
          <ac:spMkLst>
            <pc:docMk/>
            <pc:sldMk cId="1421522261" sldId="346"/>
            <ac:spMk id="4" creationId="{99E35150-35BD-1B1F-9A8C-890DBFDF3B54}"/>
          </ac:spMkLst>
        </pc:spChg>
        <pc:spChg chg="mod">
          <ac:chgData name="VANSH BANSAL" userId="9b98d63dcf6a67ac" providerId="LiveId" clId="{3C7CA52D-6F8C-4E55-8200-34C590F5254E}" dt="2026-09-08T16:22:45.636" v="57" actId="1076"/>
          <ac:spMkLst>
            <pc:docMk/>
            <pc:sldMk cId="1421522261" sldId="346"/>
            <ac:spMk id="7" creationId="{5A2A9BCE-A757-223C-2A3D-44341FB27A61}"/>
          </ac:spMkLst>
        </pc:spChg>
        <pc:spChg chg="mod">
          <ac:chgData name="VANSH BANSAL" userId="9b98d63dcf6a67ac" providerId="LiveId" clId="{3C7CA52D-6F8C-4E55-8200-34C590F5254E}" dt="2026-09-08T16:22:37.900" v="55" actId="1076"/>
          <ac:spMkLst>
            <pc:docMk/>
            <pc:sldMk cId="1421522261" sldId="346"/>
            <ac:spMk id="8" creationId="{1EED58A7-2CD5-1355-8D1D-DD62A1ED8CB5}"/>
          </ac:spMkLst>
        </pc:spChg>
        <pc:picChg chg="mod">
          <ac:chgData name="VANSH BANSAL" userId="9b98d63dcf6a67ac" providerId="LiveId" clId="{3C7CA52D-6F8C-4E55-8200-34C590F5254E}" dt="2026-09-08T16:22:18.098" v="50" actId="1076"/>
          <ac:picMkLst>
            <pc:docMk/>
            <pc:sldMk cId="1421522261" sldId="346"/>
            <ac:picMk id="100"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tish-sharma06/AgriPredic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3224749"/>
            <a:ext cx="5600000" cy="750000"/>
          </a:xfrm>
        </p:spPr>
        <p:txBody>
          <a:bodyPr vert="horz" lIns="91440" tIns="45720" rIns="91440" bIns="45720" rtlCol="0" anchor="t">
            <a:normAutofit fontScale="92500" lnSpcReduction="10000"/>
          </a:bodyPr>
          <a:lstStyle/>
          <a:p>
            <a:pPr algn="l"/>
            <a:r>
              <a:rPr lang="en-US" dirty="0">
                <a:solidFill>
                  <a:schemeClr val="tx1"/>
                </a:solidFill>
              </a:rPr>
              <a:t>Nitish Bhardwaj</a:t>
            </a:r>
            <a:endParaRPr lang="en-IN" dirty="0">
              <a:solidFill>
                <a:schemeClr val="tx1"/>
              </a:solidFill>
            </a:endParaRPr>
          </a:p>
          <a:p>
            <a:pPr algn="l"/>
            <a:r>
              <a:rPr lang="en-US" dirty="0">
                <a:solidFill>
                  <a:schemeClr val="tx1"/>
                </a:solidFill>
              </a:rPr>
              <a:t>Panipat Institute of Engineering and Technology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6" y="2583901"/>
            <a:ext cx="7505935" cy="743448"/>
          </a:xfrm>
        </p:spPr>
        <p:txBody>
          <a:bodyPr>
            <a:normAutofit fontScale="90000"/>
          </a:bodyPr>
          <a:lstStyle/>
          <a:p>
            <a:r>
              <a:rPr lang="en-GB" sz="3200" b="1" dirty="0"/>
              <a:t>Seasonal Agriculture Performance Analysis</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12346" y="3974749"/>
            <a:ext cx="3654351" cy="646331"/>
          </a:xfrm>
          <a:prstGeom prst="rect">
            <a:avLst/>
          </a:prstGeom>
          <a:noFill/>
        </p:spPr>
        <p:txBody>
          <a:bodyPr wrap="square" rtlCol="0">
            <a:spAutoFit/>
          </a:bodyPr>
          <a:lstStyle/>
          <a:p>
            <a:r>
              <a:rPr lang="en-US" b="1" dirty="0"/>
              <a:t>AICTE STU ID : STU6a26a9143d65f1780918548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6" y="1501845"/>
            <a:ext cx="6519973" cy="4693398"/>
          </a:xfrm>
        </p:spPr>
        <p:txBody>
          <a:bodyPr vert="horz" lIns="91440" tIns="45720" rIns="91440" bIns="45720" rtlCol="0" anchor="t">
            <a:normAutofit fontScale="77500" lnSpcReduction="20000"/>
          </a:bodyPr>
          <a:lstStyle/>
          <a:p>
            <a:pPr>
              <a:lnSpc>
                <a:spcPct val="100000"/>
              </a:lnSpc>
            </a:pPr>
            <a:r>
              <a:rPr lang="en-US" sz="28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r>
              <a:rPr lang="en-US" sz="2800" dirty="0"/>
              <a:t>.</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pPr algn="ctr"/>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046070" cy="830997"/>
          </a:xfrm>
        </p:spPr>
        <p:txBody>
          <a:bodyPr>
            <a:normAutofit/>
          </a:bodyPr>
          <a:lstStyle/>
          <a:p>
            <a:r>
              <a:rPr lang="en-GB" dirty="0"/>
              <a:t>Project Description</a:t>
            </a:r>
          </a:p>
        </p:txBody>
      </p:sp>
      <p:sp>
        <p:nvSpPr>
          <p:cNvPr id="20" name="Description Body"/>
          <p:cNvSpPr txBox="1"/>
          <p:nvPr/>
        </p:nvSpPr>
        <p:spPr>
          <a:xfrm>
            <a:off x="660399" y="1850000"/>
            <a:ext cx="10046070" cy="4400000"/>
          </a:xfrm>
          <a:prstGeom prst="rect">
            <a:avLst/>
          </a:prstGeom>
        </p:spPr>
        <p:txBody>
          <a:bodyPr wrap="square">
            <a:normAutofit/>
          </a:bodyPr>
          <a:lstStyle/>
          <a:p>
            <a:pPr algn="just">
              <a:lnSpc>
                <a:spcPct val="130000"/>
              </a:lnSpc>
            </a:pPr>
            <a:r>
              <a:rPr lang="en-US" sz="1800" dirty="0"/>
              <a:t>This project performs an end-to-end, evidence-based analysis of 4,000 farm-level records spanning India's three cropping seasons – Kharif, Rabi and Zaid – to understand how environmental conditions, resource usage and farming practices drive agricultural performance.</a:t>
            </a:r>
          </a:p>
          <a:p>
            <a:pPr algn="just">
              <a:lnSpc>
                <a:spcPct val="130000"/>
              </a:lnSpc>
            </a:pPr>
            <a:r>
              <a:rPr lang="en-US" sz="1800" dirty="0"/>
              <a:t>The workflow covers data cleaning and domain-grounded imputation, feature engineering (profit margin, cost/revenue per hectare), exploratory analysis of climate, soil, crop and irrigation patterns, formal statistical hypothesis testing (ANOVA, Kruskal-Wallis, Chi-Square), and two Random Forest models – a Yield Regressor (R² = 0.896) and a Profitability Classifier (83.5% accuracy, ROC-AUC = 0.913).</a:t>
            </a:r>
          </a:p>
          <a:p>
            <a:pPr algn="just">
              <a:lnSpc>
                <a:spcPct val="130000"/>
              </a:lnSpc>
            </a:pPr>
            <a:r>
              <a:rPr lang="en-US" sz="1800" dirty="0"/>
              <a:t>The findings feed into a three-pillar policy framework covering crop realignment, micro-irrigation adoption and precision input management, directly answering all 11 AICTE-mandated analytical questions on seasonal agricultural performance.</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20000"/>
          </a:bodyPr>
          <a:lstStyle/>
          <a:p>
            <a:pPr algn="just">
              <a:lnSpc>
                <a:spcPct val="130000"/>
              </a:lnSpc>
            </a:pPr>
            <a:r>
              <a:rPr lang="en-US" sz="2000" dirty="0"/>
              <a:t>Farmers &amp; Growers – choosing the right crop and irrigation method for Kharif, Rabi or Zaid</a:t>
            </a:r>
          </a:p>
          <a:p>
            <a:pPr algn="just">
              <a:lnSpc>
                <a:spcPct val="130000"/>
              </a:lnSpc>
            </a:pPr>
            <a:r>
              <a:rPr lang="en-US" sz="2000" dirty="0"/>
              <a:t>State &amp; District Agriculture Departments – designing seasonal crop-advisory and subsidy programs</a:t>
            </a:r>
          </a:p>
          <a:p>
            <a:pPr algn="just">
              <a:lnSpc>
                <a:spcPct val="130000"/>
              </a:lnSpc>
            </a:pPr>
            <a:r>
              <a:rPr lang="en-US" sz="2000" dirty="0"/>
              <a:t>Agricultural Banks &amp; Insurers – assessing seasonal risk before approving loans and crop insurance</a:t>
            </a:r>
          </a:p>
          <a:p>
            <a:pPr algn="just">
              <a:lnSpc>
                <a:spcPct val="130000"/>
              </a:lnSpc>
            </a:pPr>
            <a:r>
              <a:rPr lang="en-US" sz="2000" dirty="0"/>
              <a:t>Irrigation &amp; Micro-Irrigation Equipment Suppliers – targeting drip/sprinkler adoption drives</a:t>
            </a:r>
          </a:p>
          <a:p>
            <a:pPr algn="just">
              <a:lnSpc>
                <a:spcPct val="130000"/>
              </a:lnSpc>
            </a:pPr>
            <a:r>
              <a:rPr lang="en-US" sz="2000" dirty="0"/>
              <a:t>Agri-Tech Researchers &amp; Policy Analysts – using the yield/profitability models for planning tools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50000" y="1432560"/>
            <a:ext cx="7568320" cy="5243448"/>
          </a:xfrm>
        </p:spPr>
        <p:txBody>
          <a:bodyPr/>
          <a:lstStyle/>
          <a:p>
            <a:pPr lvl="1">
              <a:lnSpc>
                <a:spcPct val="140000"/>
              </a:lnSpc>
            </a:pPr>
            <a:r>
              <a:rPr lang="en-US" sz="1800" dirty="0"/>
              <a:t>Python 3.11 – core analysis language</a:t>
            </a:r>
          </a:p>
          <a:p>
            <a:pPr lvl="1">
              <a:lnSpc>
                <a:spcPct val="140000"/>
              </a:lnSpc>
            </a:pPr>
            <a:r>
              <a:rPr lang="en-US" sz="1800" dirty="0"/>
              <a:t>Pandas &amp; NumPy – data cleaning, imputation and feature engineering</a:t>
            </a:r>
          </a:p>
          <a:p>
            <a:pPr lvl="1">
              <a:lnSpc>
                <a:spcPct val="140000"/>
              </a:lnSpc>
            </a:pPr>
            <a:r>
              <a:rPr lang="en-US" sz="1800" dirty="0"/>
              <a:t>Matplotlib &amp; Seaborn – seasonal, financial and environmental visualizations</a:t>
            </a:r>
          </a:p>
          <a:p>
            <a:pPr lvl="1">
              <a:lnSpc>
                <a:spcPct val="140000"/>
              </a:lnSpc>
            </a:pPr>
            <a:r>
              <a:rPr lang="en-US" sz="1800" dirty="0"/>
              <a:t>SciPy – ANOVA, Kruskal-Wallis and Chi-Square hypothesis testing</a:t>
            </a:r>
          </a:p>
          <a:p>
            <a:pPr lvl="1">
              <a:lnSpc>
                <a:spcPct val="140000"/>
              </a:lnSpc>
            </a:pPr>
            <a:r>
              <a:rPr lang="en-US" sz="1800" dirty="0"/>
              <a:t>Scikit-Learn – Random Forest Regression &amp; Classification models</a:t>
            </a:r>
          </a:p>
          <a:p>
            <a:pPr lvl="1">
              <a:lnSpc>
                <a:spcPct val="140000"/>
              </a:lnSpc>
            </a:pPr>
            <a:r>
              <a:rPr lang="en-US" sz="1800" dirty="0"/>
              <a:t>Jupyter Notebook – end-to-end reproducible analysis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9143904" cy="830997"/>
          </a:xfrm>
        </p:spPr>
        <p:txBody>
          <a:bodyPr>
            <a:normAutofit fontScale="90000"/>
          </a:bodyPr>
          <a:lstStyle/>
          <a:p>
            <a:r>
              <a:rPr lang="en-GB" dirty="0"/>
              <a:t>RESULTS – Environmental Profiles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Kharif: 816mm rain, 71.8% humidity</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Zaid: 31.5°C avg, 19.2% soil moisture</a:t>
            </a:r>
          </a:p>
        </p:txBody>
      </p:sp>
      <p:pic>
        <p:nvPicPr>
          <p:cNvPr id="100" name="Chart 100"/>
          <p:cNvPicPr>
            <a:picLocks noChangeAspect="1"/>
          </p:cNvPicPr>
          <p:nvPr/>
        </p:nvPicPr>
        <p:blipFill>
          <a:blip r:embed="rId3"/>
          <a:stretch>
            <a:fillRect/>
          </a:stretch>
        </p:blipFill>
        <p:spPr>
          <a:xfrm>
            <a:off x="675957" y="1941449"/>
            <a:ext cx="7814213" cy="430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632D5A-86D7-0EF0-7377-B0ADD0406541}"/>
              </a:ext>
            </a:extLst>
          </p:cNvPr>
          <p:cNvSpPr/>
          <p:nvPr/>
        </p:nvSpPr>
        <p:spPr>
          <a:xfrm>
            <a:off x="6345141" y="1399430"/>
            <a:ext cx="1144988" cy="6660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984878" cy="830997"/>
          </a:xfrm>
        </p:spPr>
        <p:txBody>
          <a:bodyPr>
            <a:normAutofit/>
          </a:bodyPr>
          <a:lstStyle/>
          <a:p>
            <a:r>
              <a:rPr lang="en-GB" dirty="0"/>
              <a:t>RESULTS – Crop Distribution</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1747519" y="184520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Rice is the top crop: ~17% share in every season</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5784880" y="194144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Crop selection is NOT season-dependent (Chi², p=0.455)</a:t>
            </a:r>
          </a:p>
        </p:txBody>
      </p:sp>
      <p:pic>
        <p:nvPicPr>
          <p:cNvPr id="100" name="Chart 100"/>
          <p:cNvPicPr>
            <a:picLocks noChangeAspect="1"/>
          </p:cNvPicPr>
          <p:nvPr/>
        </p:nvPicPr>
        <p:blipFill>
          <a:blip r:embed="rId3"/>
          <a:stretch>
            <a:fillRect/>
          </a:stretch>
        </p:blipFill>
        <p:spPr>
          <a:xfrm>
            <a:off x="675957" y="2727359"/>
            <a:ext cx="9092609" cy="3100947"/>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1243048" cy="830997"/>
          </a:xfrm>
        </p:spPr>
        <p:txBody>
          <a:bodyPr>
            <a:normAutofit/>
          </a:bodyPr>
          <a:lstStyle/>
          <a:p>
            <a:r>
              <a:rPr lang="en-GB" sz="3600" dirty="0"/>
              <a:t>RESULTS – Resource &amp; Irrigation Efficiency</a:t>
            </a:r>
            <a:endParaRPr lang="en-IN" sz="36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1085880" y="120158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Drip: 6.27 t/1,000m³ vs Flood: 3.44 t/1,000m³ efficiency</a:t>
            </a:r>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942042" y="120158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Fertilizer &amp; pesticide intensity stay nearly flat across seasons</a:t>
            </a:r>
          </a:p>
        </p:txBody>
      </p:sp>
      <p:pic>
        <p:nvPicPr>
          <p:cNvPr id="100" name="Chart 100"/>
          <p:cNvPicPr>
            <a:picLocks noChangeAspect="1"/>
          </p:cNvPicPr>
          <p:nvPr/>
        </p:nvPicPr>
        <p:blipFill>
          <a:blip r:embed="rId3"/>
          <a:stretch>
            <a:fillRect/>
          </a:stretch>
        </p:blipFill>
        <p:spPr>
          <a:xfrm>
            <a:off x="833808" y="2100132"/>
            <a:ext cx="7530963" cy="2048301"/>
          </a:xfrm>
          <a:prstGeom prst="rect">
            <a:avLst/>
          </a:prstGeom>
        </p:spPr>
      </p:pic>
      <p:pic>
        <p:nvPicPr>
          <p:cNvPr id="101" name="Chart 101"/>
          <p:cNvPicPr>
            <a:picLocks noChangeAspect="1"/>
          </p:cNvPicPr>
          <p:nvPr/>
        </p:nvPicPr>
        <p:blipFill>
          <a:blip r:embed="rId4"/>
          <a:stretch>
            <a:fillRect/>
          </a:stretch>
        </p:blipFill>
        <p:spPr>
          <a:xfrm>
            <a:off x="833808" y="4458718"/>
            <a:ext cx="7530962" cy="2048301"/>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11F8FC-8092-2219-E314-FF79886745CC}"/>
              </a:ext>
            </a:extLst>
          </p:cNvPr>
          <p:cNvSpPr/>
          <p:nvPr/>
        </p:nvSpPr>
        <p:spPr>
          <a:xfrm>
            <a:off x="5973061" y="1492412"/>
            <a:ext cx="1171492" cy="7712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9549420" cy="830997"/>
          </a:xfrm>
        </p:spPr>
        <p:txBody>
          <a:bodyPr>
            <a:normAutofit/>
          </a:bodyPr>
          <a:lstStyle/>
          <a:p>
            <a:r>
              <a:rPr lang="en-GB" dirty="0"/>
              <a:t>RESULTS – Profitability Analysis</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957720" y="137638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Chilli &amp; Sugarcane: up to ₹10 Lakh mean profit/season</a:t>
            </a:r>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5472772" y="137638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Zaid farms: only 35.5% profitable vs 57.8% in Kharif</a:t>
            </a:r>
          </a:p>
        </p:txBody>
      </p:sp>
      <p:pic>
        <p:nvPicPr>
          <p:cNvPr id="100" name="Chart 100"/>
          <p:cNvPicPr>
            <a:picLocks noChangeAspect="1"/>
          </p:cNvPicPr>
          <p:nvPr/>
        </p:nvPicPr>
        <p:blipFill>
          <a:blip r:embed="rId3"/>
          <a:stretch>
            <a:fillRect/>
          </a:stretch>
        </p:blipFill>
        <p:spPr>
          <a:xfrm>
            <a:off x="320982" y="2487322"/>
            <a:ext cx="8873463" cy="3420497"/>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CA35950-0950-D9AB-311C-7861A48DF08B}"/>
              </a:ext>
            </a:extLst>
          </p:cNvPr>
          <p:cNvSpPr/>
          <p:nvPr/>
        </p:nvSpPr>
        <p:spPr>
          <a:xfrm>
            <a:off x="6456459" y="1608410"/>
            <a:ext cx="826936" cy="53844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8913316" cy="830997"/>
          </a:xfrm>
        </p:spPr>
        <p:txBody>
          <a:bodyPr>
            <a:normAutofit/>
          </a:bodyPr>
          <a:lstStyle/>
          <a:p>
            <a:r>
              <a:rPr lang="en-GB" dirty="0"/>
              <a:t>RESULTS – Predictive Modeling</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1610232" y="128660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Yield Model: R² = 0.896  |  RMSE = 0.346 t/ha</a:t>
            </a:r>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5611614" y="129187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Profitability Classifier: 83.5% accuracy, ROC-AUC = 0.913</a:t>
            </a:r>
          </a:p>
        </p:txBody>
      </p:sp>
      <p:pic>
        <p:nvPicPr>
          <p:cNvPr id="100" name="Chart 100"/>
          <p:cNvPicPr>
            <a:picLocks noChangeAspect="1"/>
          </p:cNvPicPr>
          <p:nvPr/>
        </p:nvPicPr>
        <p:blipFill>
          <a:blip r:embed="rId3"/>
          <a:stretch>
            <a:fillRect/>
          </a:stretch>
        </p:blipFill>
        <p:spPr>
          <a:xfrm>
            <a:off x="475806" y="2376004"/>
            <a:ext cx="8955974" cy="3452303"/>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Real-Time Deployment</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Broader Data &amp; Region Coverage</a:t>
            </a:r>
          </a:p>
        </p:txBody>
      </p:sp>
      <p:sp>
        <p:nvSpPr>
          <p:cNvPr id="50" name="Future Scope Body"/>
          <p:cNvSpPr txBox="1"/>
          <p:nvPr/>
        </p:nvSpPr>
        <p:spPr>
          <a:xfrm>
            <a:off x="620008" y="2150000"/>
            <a:ext cx="10046070" cy="4100000"/>
          </a:xfrm>
          <a:prstGeom prst="rect">
            <a:avLst/>
          </a:prstGeom>
        </p:spPr>
        <p:txBody>
          <a:bodyPr wrap="square">
            <a:normAutofit/>
          </a:bodyPr>
          <a:lstStyle/>
          <a:p>
            <a:pPr marL="285750" indent="-285750">
              <a:buFont typeface="Arial" pitchFamily="34" charset="0"/>
              <a:buChar char="•"/>
            </a:pPr>
            <a:r>
              <a:rPr lang="en-US" sz="1800" dirty="0"/>
              <a:t>Deploy the yield &amp; profitability models as a live farmer-advisory web/mobile app with district-level, real-time weather and market-price feeds</a:t>
            </a:r>
          </a:p>
          <a:p>
            <a:pPr marL="285750" indent="-285750">
              <a:buFont typeface="Arial" pitchFamily="34" charset="0"/>
              <a:buChar char="•"/>
            </a:pPr>
            <a:r>
              <a:rPr lang="en-US" sz="1800" dirty="0"/>
              <a:t>Extend the dataset beyond 8 states to a pan-India, multi-year panel to capture inter-annual climate variability (e.g., El Niño years)</a:t>
            </a:r>
          </a:p>
          <a:p>
            <a:pPr marL="285750" indent="-285750">
              <a:buFont typeface="Arial" pitchFamily="34" charset="0"/>
              <a:buChar char="•"/>
            </a:pPr>
            <a:r>
              <a:rPr lang="en-US" sz="1800" dirty="0"/>
              <a:t>Incorporate satellite &amp; remote-sensing indices (NDVI, soil moisture) to reduce dependence on self-reported farm data</a:t>
            </a:r>
          </a:p>
          <a:p>
            <a:pPr marL="285750" indent="-285750">
              <a:buFont typeface="Arial" pitchFamily="34" charset="0"/>
              <a:buChar char="•"/>
            </a:pPr>
            <a:r>
              <a:rPr lang="en-US" sz="1800" dirty="0"/>
              <a:t>Add a market-price forecasting module so profitability predictions adapt to real-time commodity price swings</a:t>
            </a:r>
          </a:p>
          <a:p>
            <a:pPr marL="285750" indent="-285750">
              <a:buFont typeface="Arial" pitchFamily="34" charset="0"/>
              <a:buChar char="•"/>
            </a:pPr>
            <a:r>
              <a:rPr lang="en-US" sz="1800" dirty="0"/>
              <a:t>Pilot the proposed micro-irrigation subsidy and pest early-warning framework with a state agriculture department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hlinkClick r:id="rId3"/>
              </a:rPr>
              <a:t>https://github.com/nitish-sharma06/AgriPredict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Course: Data Visualization (VOIS – Vodafone Idea Foundation)</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461542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500" b="1" dirty="0">
                <a:solidFill>
                  <a:schemeClr val="accent1"/>
                </a:solidFill>
              </a:rPr>
              <a:t>Issued: August 31, 2026  |  ID: VFLMS26_162658</a:t>
            </a:r>
          </a:p>
        </p:txBody>
      </p:sp>
      <p:pic>
        <p:nvPicPr>
          <p:cNvPr id="200" name="Certificate"/>
          <p:cNvPicPr>
            <a:picLocks noChangeAspect="1"/>
          </p:cNvPicPr>
          <p:nvPr/>
        </p:nvPicPr>
        <p:blipFill>
          <a:blip r:embed="rId3"/>
          <a:stretch>
            <a:fillRect/>
          </a:stretch>
        </p:blipFill>
        <p:spPr>
          <a:xfrm>
            <a:off x="3056016" y="2050000"/>
            <a:ext cx="6079967" cy="43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941947" y="1974314"/>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dirty="0"/>
              <a:t>Nitish Bhardwaj</a:t>
            </a:r>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4049494" y="1989115"/>
            <a:ext cx="2596574" cy="453919"/>
          </a:xfrm>
          <a:prstGeom prst="rect">
            <a:avLst/>
          </a:prstGeom>
        </p:spPr>
        <p:txBody>
          <a:bodyPr vert="horz" lIns="91440" tIns="45720" rIns="91440" bIns="45720" rtlCol="0">
            <a:normAutofit fontScale="62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200" dirty="0"/>
              <a:t>Panipat Institute of Engineering &amp; Technology</a:t>
            </a:r>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129190" y="2086064"/>
            <a:ext cx="2596574" cy="453919"/>
          </a:xfrm>
          <a:prstGeom prst="rect">
            <a:avLst/>
          </a:prstGeom>
        </p:spPr>
        <p:txBody>
          <a:bodyPr vert="horz" lIns="91440" tIns="45720" rIns="91440" bIns="45720" rtlCol="0">
            <a:normAutofit fontScale="70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200" dirty="0"/>
              <a:t>nitishbtech6@gmail.com</a:t>
            </a:r>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1366</TotalTime>
  <Words>682</Words>
  <Application>Microsoft Office PowerPoint</Application>
  <PresentationFormat>Widescreen</PresentationFormat>
  <Paragraphs>58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 Environmental Profiles</vt:lpstr>
      <vt:lpstr>RESULTS – Crop Distribution</vt:lpstr>
      <vt:lpstr>RESULTS – Resource &amp; Irrigation Efficiency</vt:lpstr>
      <vt:lpstr>RESULTS – Profitability Analysis</vt:lpstr>
      <vt:lpstr>RESULTS – Predictive Modeling</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VANSH BANSAL</cp:lastModifiedBy>
  <cp:revision>100</cp:revision>
  <dcterms:created xsi:type="dcterms:W3CDTF">2021-07-11T13:13:15Z</dcterms:created>
  <dcterms:modified xsi:type="dcterms:W3CDTF">2026-09-08T16:25:20Z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